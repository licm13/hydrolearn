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Hydrological Modeling with HydroLearn</a:t>
            </a:r>
          </a:p>
          <a:p>
            <a:r>
              <a:t>水文模型教学库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Educational Repository for Rainfall-Runoff Modeling</a:t>
            </a:r>
          </a:p>
          <a:p>
            <a:r>
              <a:t>降雨径流模型教学库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 / 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Understand the fundamental concepts of hydrological modeling</a:t>
            </a:r>
          </a:p>
          <a:p>
            <a:pPr>
              <a:defRPr sz="1800"/>
            </a:pPr>
            <a:r>
              <a:t>  理解水文模拟的基本概念</a:t>
            </a:r>
          </a:p>
          <a:p>
            <a:pPr>
              <a:defRPr sz="1800"/>
            </a:pPr>
            <a:r>
              <a:t>• Learn different runoff generation mechanisms</a:t>
            </a:r>
          </a:p>
          <a:p>
            <a:pPr>
              <a:defRPr sz="1800"/>
            </a:pPr>
            <a:r>
              <a:t>  学习不同的产流机制</a:t>
            </a:r>
          </a:p>
          <a:p>
            <a:pPr>
              <a:defRPr sz="1800"/>
            </a:pPr>
            <a:r>
              <a:t>• Master parameter calibration and validation techniques</a:t>
            </a:r>
          </a:p>
          <a:p>
            <a:pPr>
              <a:defRPr sz="1800"/>
            </a:pPr>
            <a:r>
              <a:t>  掌握参数率定和验证技术</a:t>
            </a:r>
          </a:p>
          <a:p>
            <a:pPr>
              <a:defRPr sz="1800"/>
            </a:pPr>
            <a:r>
              <a:t>• Compare performance of different hydrological models</a:t>
            </a:r>
          </a:p>
          <a:p>
            <a:pPr>
              <a:defRPr sz="1800"/>
            </a:pPr>
            <a:r>
              <a:t>  比较不同水文模型的性能</a:t>
            </a:r>
          </a:p>
          <a:p>
            <a:pPr>
              <a:defRPr sz="1800"/>
            </a:pPr>
            <a:r>
              <a:t>• Apply models to real-world problems</a:t>
            </a:r>
          </a:p>
          <a:p>
            <a:pPr>
              <a:defRPr sz="1800"/>
            </a:pPr>
            <a:r>
              <a:t>  将模型应用于实际问题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The Hydrological Water Cycle / 水文循环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Water Balance: P = ET + Q + ΔS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a Hydrological Model? / 什么是水文模型?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Mathematical representation of the hydrological cycle</a:t>
            </a:r>
          </a:p>
          <a:p>
            <a:pPr>
              <a:defRPr sz="1800"/>
            </a:pPr>
            <a:r>
              <a:t>  水文循环的数学表示</a:t>
            </a:r>
          </a:p>
          <a:p>
            <a:pPr>
              <a:defRPr sz="1800"/>
            </a:pPr>
            <a:r>
              <a:t>• Transforms inputs (P, T, PET) into outputs (Q)</a:t>
            </a:r>
          </a:p>
          <a:p>
            <a:pPr>
              <a:defRPr sz="1800"/>
            </a:pPr>
            <a:r>
              <a:t>  将输入(降水、温度、蒸散发)转换为输出(径流)</a:t>
            </a:r>
          </a:p>
          <a:p>
            <a:pPr>
              <a:defRPr sz="1800"/>
            </a:pPr>
            <a:r>
              <a:t>• Three main types:</a:t>
            </a:r>
          </a:p>
          <a:p>
            <a:pPr>
              <a:defRPr sz="1800"/>
            </a:pPr>
            <a:r>
              <a:t>  - Physical-based (physically-based processes)</a:t>
            </a:r>
          </a:p>
          <a:p>
            <a:pPr>
              <a:defRPr sz="1800"/>
            </a:pPr>
            <a:r>
              <a:t>  - Conceptual (simplified representations)</a:t>
            </a:r>
          </a:p>
          <a:p>
            <a:pPr>
              <a:defRPr sz="1800"/>
            </a:pPr>
            <a:r>
              <a:t>  - Data-driven (statistical/machine learning)</a:t>
            </a:r>
          </a:p>
          <a:p>
            <a:pPr>
              <a:defRPr sz="1800"/>
            </a:pPr>
            <a:r>
              <a:t>• We focus on conceptual models in this course</a:t>
            </a:r>
          </a:p>
          <a:p>
            <a:pPr>
              <a:defRPr sz="1800"/>
            </a:pPr>
            <a:r>
              <a:t>  本课程重点关注概念性模型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HydroLearn Model Portfolio / 模型组合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Six different hydrological models for various applications / 六种不同的水文模型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Xinanjiang Model (新安江模型)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📍 Origin:</a:t>
            </a:r>
          </a:p>
          <a:p>
            <a:pPr>
              <a:spcAft>
                <a:spcPts val="600"/>
              </a:spcAft>
              <a:defRPr sz="1400"/>
            </a:pPr>
            <a:r>
              <a:t>• Developed by Zhao Ren-jun (1973)</a:t>
            </a:r>
          </a:p>
          <a:p>
            <a:pPr>
              <a:spcAft>
                <a:spcPts val="600"/>
              </a:spcAft>
              <a:defRPr sz="1400"/>
            </a:pPr>
            <a:r>
              <a:t>• Hohai University, China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🎯 Key Features:</a:t>
            </a:r>
          </a:p>
          <a:p>
            <a:pPr>
              <a:spcAft>
                <a:spcPts val="600"/>
              </a:spcAft>
              <a:defRPr sz="1400"/>
            </a:pPr>
            <a:r>
              <a:t>• Saturation excess mechanism</a:t>
            </a:r>
          </a:p>
          <a:p>
            <a:pPr>
              <a:spcAft>
                <a:spcPts val="600"/>
              </a:spcAft>
              <a:defRPr sz="1400"/>
            </a:pPr>
            <a:r>
              <a:t>• Three-layer evapotranspiration</a:t>
            </a:r>
          </a:p>
          <a:p>
            <a:pPr>
              <a:spcAft>
                <a:spcPts val="600"/>
              </a:spcAft>
              <a:defRPr sz="1400"/>
            </a:pPr>
            <a:r>
              <a:t>• Parabolic distribution curves</a:t>
            </a:r>
          </a:p>
          <a:p>
            <a:pPr>
              <a:spcAft>
                <a:spcPts val="600"/>
              </a:spcAft>
              <a:defRPr sz="1400"/>
            </a:pPr>
            <a:r>
              <a:t>• Best for humid regions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📊 Parameters: 13</a:t>
            </a:r>
          </a:p>
          <a:p>
            <a:pPr>
              <a:spcAft>
                <a:spcPts val="600"/>
              </a:spcAft>
              <a:defRPr sz="1400"/>
            </a:pPr>
            <a:r>
              <a:t>• Evaporation: K, C</a:t>
            </a:r>
          </a:p>
          <a:p>
            <a:pPr>
              <a:spcAft>
                <a:spcPts val="600"/>
              </a:spcAft>
              <a:defRPr sz="1400"/>
            </a:pPr>
            <a:r>
              <a:t>• Soil: WM, WUM, WLM, B</a:t>
            </a:r>
          </a:p>
          <a:p>
            <a:pPr>
              <a:spcAft>
                <a:spcPts val="600"/>
              </a:spcAft>
              <a:defRPr sz="1400"/>
            </a:pPr>
            <a:r>
              <a:t>• Runoff: SM, EX, IMP</a:t>
            </a:r>
          </a:p>
          <a:p>
            <a:pPr>
              <a:spcAft>
                <a:spcPts val="600"/>
              </a:spcAft>
              <a:defRPr sz="1400"/>
            </a:pPr>
            <a:r>
              <a:t>• Routing: KI, KG, CI, 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🔧 Main Components: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1. Three-Layer ET Module</a:t>
            </a:r>
          </a:p>
          <a:p>
            <a:pPr>
              <a:spcAft>
                <a:spcPts val="600"/>
              </a:spcAft>
              <a:defRPr sz="1400"/>
            </a:pPr>
            <a:r>
              <a:t>   • Upper layer (WUM)</a:t>
            </a:r>
          </a:p>
          <a:p>
            <a:pPr>
              <a:spcAft>
                <a:spcPts val="600"/>
              </a:spcAft>
              <a:defRPr sz="1400"/>
            </a:pPr>
            <a:r>
              <a:t>   • Lower layer (WLM)</a:t>
            </a:r>
          </a:p>
          <a:p>
            <a:pPr>
              <a:spcAft>
                <a:spcPts val="600"/>
              </a:spcAft>
              <a:defRPr sz="1400"/>
            </a:pPr>
            <a:r>
              <a:t>   • Deep layer (WDM)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Runoff Generation</a:t>
            </a:r>
          </a:p>
          <a:p>
            <a:pPr>
              <a:spcAft>
                <a:spcPts val="600"/>
              </a:spcAft>
              <a:defRPr sz="1400"/>
            </a:pPr>
            <a:r>
              <a:t>   • Saturation excess</a:t>
            </a:r>
          </a:p>
          <a:p>
            <a:pPr>
              <a:spcAft>
                <a:spcPts val="600"/>
              </a:spcAft>
              <a:defRPr sz="1400"/>
            </a:pPr>
            <a:r>
              <a:t>   • Parabolic curve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Runoff Separation</a:t>
            </a:r>
          </a:p>
          <a:p>
            <a:pPr>
              <a:spcAft>
                <a:spcPts val="600"/>
              </a:spcAft>
              <a:defRPr sz="1400"/>
            </a:pPr>
            <a:r>
              <a:t>   • Surface runoff</a:t>
            </a:r>
          </a:p>
          <a:p>
            <a:pPr>
              <a:spcAft>
                <a:spcPts val="600"/>
              </a:spcAft>
              <a:defRPr sz="1400"/>
            </a:pPr>
            <a:r>
              <a:t>   • Interflow</a:t>
            </a:r>
          </a:p>
          <a:p>
            <a:pPr>
              <a:spcAft>
                <a:spcPts val="600"/>
              </a:spcAft>
              <a:defRPr sz="1400"/>
            </a:pPr>
            <a:r>
              <a:t>   • Groundwater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Flow Routing</a:t>
            </a:r>
          </a:p>
          <a:p>
            <a:pPr>
              <a:spcAft>
                <a:spcPts val="600"/>
              </a:spcAft>
              <a:defRPr sz="1400"/>
            </a:pPr>
            <a:r>
              <a:t>   • Linear reservoirs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Xinanjiang Model Structure / 新安江模型结构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Complete model flowchart showing all components / 完整模型流程图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HBV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📍 Origin:</a:t>
            </a:r>
          </a:p>
          <a:p>
            <a:pPr>
              <a:spcAft>
                <a:spcPts val="600"/>
              </a:spcAft>
              <a:defRPr sz="1400"/>
            </a:pPr>
            <a:r>
              <a:t>• Swedish Meteorological and</a:t>
            </a:r>
          </a:p>
          <a:p>
            <a:pPr>
              <a:spcAft>
                <a:spcPts val="600"/>
              </a:spcAft>
              <a:defRPr sz="1400"/>
            </a:pPr>
            <a:r>
              <a:t>  Hydrological Institute (1970s)</a:t>
            </a:r>
          </a:p>
          <a:p>
            <a:pPr>
              <a:spcAft>
                <a:spcPts val="600"/>
              </a:spcAft>
              <a:defRPr sz="1400"/>
            </a:pPr>
            <a:r>
              <a:t>• Widely used worldwide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🎯 Key Features:</a:t>
            </a:r>
          </a:p>
          <a:p>
            <a:pPr>
              <a:spcAft>
                <a:spcPts val="600"/>
              </a:spcAft>
              <a:defRPr sz="1400"/>
            </a:pPr>
            <a:r>
              <a:t>• Temperature-driven processes</a:t>
            </a:r>
          </a:p>
          <a:p>
            <a:pPr>
              <a:spcAft>
                <a:spcPts val="600"/>
              </a:spcAft>
              <a:defRPr sz="1400"/>
            </a:pPr>
            <a:r>
              <a:t>• Snow accumulation and melt</a:t>
            </a:r>
          </a:p>
          <a:p>
            <a:pPr>
              <a:spcAft>
                <a:spcPts val="600"/>
              </a:spcAft>
              <a:defRPr sz="1400"/>
            </a:pPr>
            <a:r>
              <a:t>• Soil moisture accounting</a:t>
            </a:r>
          </a:p>
          <a:p>
            <a:pPr>
              <a:spcAft>
                <a:spcPts val="600"/>
              </a:spcAft>
              <a:defRPr sz="1400"/>
            </a:pPr>
            <a:r>
              <a:t>• Three-component runoff</a:t>
            </a:r>
          </a:p>
          <a:p>
            <a:pPr>
              <a:spcAft>
                <a:spcPts val="600"/>
              </a:spcAft>
              <a:defRPr sz="1400"/>
            </a:pPr>
            <a:r>
              <a:t>• Best for cold/temperate regions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📊 Parameters: 13</a:t>
            </a:r>
          </a:p>
          <a:p>
            <a:pPr>
              <a:spcAft>
                <a:spcPts val="600"/>
              </a:spcAft>
              <a:defRPr sz="1400"/>
            </a:pPr>
            <a:r>
              <a:t>• Snow: TT, CFMAX, CWH, CFR</a:t>
            </a:r>
          </a:p>
          <a:p>
            <a:pPr>
              <a:spcAft>
                <a:spcPts val="600"/>
              </a:spcAft>
              <a:defRPr sz="1400"/>
            </a:pPr>
            <a:r>
              <a:t>• Soil: FC, LP, BETA</a:t>
            </a:r>
          </a:p>
          <a:p>
            <a:pPr>
              <a:spcAft>
                <a:spcPts val="600"/>
              </a:spcAft>
              <a:defRPr sz="1400"/>
            </a:pPr>
            <a:r>
              <a:t>• Response: PERC, UZL, K0, K1, K2</a:t>
            </a:r>
          </a:p>
          <a:p>
            <a:pPr>
              <a:spcAft>
                <a:spcPts val="600"/>
              </a:spcAft>
              <a:defRPr sz="1400"/>
            </a:pPr>
            <a:r>
              <a:t>• Routing: MAXBAS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🔧 Main Modules: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1. Snow Routine</a:t>
            </a:r>
          </a:p>
          <a:p>
            <a:pPr>
              <a:spcAft>
                <a:spcPts val="600"/>
              </a:spcAft>
              <a:defRPr sz="1400"/>
            </a:pPr>
            <a:r>
              <a:t>   • Degree-day method</a:t>
            </a:r>
          </a:p>
          <a:p>
            <a:pPr>
              <a:spcAft>
                <a:spcPts val="600"/>
              </a:spcAft>
              <a:defRPr sz="1400"/>
            </a:pPr>
            <a:r>
              <a:t>   • Snow accumulation</a:t>
            </a:r>
          </a:p>
          <a:p>
            <a:pPr>
              <a:spcAft>
                <a:spcPts val="600"/>
              </a:spcAft>
              <a:defRPr sz="1400"/>
            </a:pPr>
            <a:r>
              <a:t>   • Snowmelt calculation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Soil Moisture Routine</a:t>
            </a:r>
          </a:p>
          <a:p>
            <a:pPr>
              <a:spcAft>
                <a:spcPts val="600"/>
              </a:spcAft>
              <a:defRPr sz="1400"/>
            </a:pPr>
            <a:r>
              <a:t>   • Actual ET calculation</a:t>
            </a:r>
          </a:p>
          <a:p>
            <a:pPr>
              <a:spcAft>
                <a:spcPts val="600"/>
              </a:spcAft>
              <a:defRPr sz="1400"/>
            </a:pPr>
            <a:r>
              <a:t>   • Recharge to response zone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Response Routine</a:t>
            </a:r>
          </a:p>
          <a:p>
            <a:pPr>
              <a:spcAft>
                <a:spcPts val="600"/>
              </a:spcAft>
              <a:defRPr sz="1400"/>
            </a:pPr>
            <a:r>
              <a:t>   • Upper zone (SUZ)</a:t>
            </a:r>
          </a:p>
          <a:p>
            <a:pPr>
              <a:spcAft>
                <a:spcPts val="600"/>
              </a:spcAft>
              <a:defRPr sz="1400"/>
            </a:pPr>
            <a:r>
              <a:t>   • Lower zone (SLZ)</a:t>
            </a:r>
          </a:p>
          <a:p>
            <a:pPr>
              <a:spcAft>
                <a:spcPts val="600"/>
              </a:spcAft>
              <a:defRPr sz="1400"/>
            </a:pPr>
            <a:r>
              <a:t>   • Q0 (quick runoff)</a:t>
            </a:r>
          </a:p>
          <a:p>
            <a:pPr>
              <a:spcAft>
                <a:spcPts val="600"/>
              </a:spcAft>
              <a:defRPr sz="1400"/>
            </a:pPr>
            <a:r>
              <a:t>   • Q1 (interflow)</a:t>
            </a:r>
          </a:p>
          <a:p>
            <a:pPr>
              <a:spcAft>
                <a:spcPts val="600"/>
              </a:spcAft>
              <a:defRPr sz="1400"/>
            </a:pPr>
            <a:r>
              <a:t>   • Q2 (baseflow)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Routing</a:t>
            </a:r>
          </a:p>
          <a:p>
            <a:pPr>
              <a:spcAft>
                <a:spcPts val="600"/>
              </a:spcAft>
              <a:defRPr sz="1400"/>
            </a:pPr>
            <a:r>
              <a:t>   • Triangular weighting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HBV Model Structure / HBV模型结构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Complete model flowchart with snow, soil, and response routines / 完整流程图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Other Models in HydroLearn / 其他模型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🔹 Tank Model (タンクモデル)</a:t>
            </a:r>
          </a:p>
          <a:p>
            <a:pPr>
              <a:defRPr sz="1800"/>
            </a:pPr>
            <a:r>
              <a:t>  • Multi-reservoir conceptual model from Japan</a:t>
            </a:r>
          </a:p>
          <a:p>
            <a:pPr>
              <a:defRPr sz="1800"/>
            </a:pPr>
            <a:r>
              <a:t>  • Flexible structure for various catchments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GR4J Model</a:t>
            </a:r>
          </a:p>
          <a:p>
            <a:pPr>
              <a:defRPr sz="1800"/>
            </a:pPr>
            <a:r>
              <a:t>  • Only 4 parameters - very parsimonious!</a:t>
            </a:r>
          </a:p>
          <a:p>
            <a:pPr>
              <a:defRPr sz="1800"/>
            </a:pPr>
            <a:r>
              <a:t>  • Excellent for daily streamflow simulation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Sacramento Model (SAC-SMA)</a:t>
            </a:r>
          </a:p>
          <a:p>
            <a:pPr>
              <a:defRPr sz="1800"/>
            </a:pPr>
            <a:r>
              <a:t>  • Continuous soil moisture accounting</a:t>
            </a:r>
          </a:p>
          <a:p>
            <a:pPr>
              <a:defRPr sz="1800"/>
            </a:pPr>
            <a:r>
              <a:t>  • Used in operational flood forecasting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🔹 SCS-CN + Unit Hydrograph</a:t>
            </a:r>
          </a:p>
          <a:p>
            <a:pPr>
              <a:defRPr sz="1800"/>
            </a:pPr>
            <a:r>
              <a:t>  • Event-based model for storm analysis</a:t>
            </a:r>
          </a:p>
          <a:p>
            <a:pPr>
              <a:defRPr sz="1800"/>
            </a:pPr>
            <a:r>
              <a:t>  • Design flood estimation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 Calibration &amp; Validation / 参数率定与验证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📌 What is Calibration?</a:t>
            </a:r>
          </a:p>
          <a:p>
            <a:pPr>
              <a:defRPr sz="1800"/>
            </a:pPr>
            <a:r>
              <a:t>  • Finding optimal parameter values</a:t>
            </a:r>
          </a:p>
          <a:p>
            <a:pPr>
              <a:defRPr sz="1800"/>
            </a:pPr>
            <a:r>
              <a:t>  • Maximizing model performance metrics</a:t>
            </a:r>
          </a:p>
          <a:p>
            <a:pPr>
              <a:defRPr sz="1800"/>
            </a:pPr>
            <a:r>
              <a:t>  • Using historical observed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📌 Common Performance Metrics:</a:t>
            </a:r>
          </a:p>
          <a:p>
            <a:pPr>
              <a:defRPr sz="1800"/>
            </a:pPr>
            <a:r>
              <a:t>  • Nash-Sutcliffe Efficiency (NSE): -∞ to 1 (1 = perfect)</a:t>
            </a:r>
          </a:p>
          <a:p>
            <a:pPr>
              <a:defRPr sz="1800"/>
            </a:pPr>
            <a:r>
              <a:t>  • Root Mean Square Error (RMSE): lower is better</a:t>
            </a:r>
          </a:p>
          <a:p>
            <a:pPr>
              <a:defRPr sz="1800"/>
            </a:pPr>
            <a:r>
              <a:t>  • Coefficient of Determination (R²)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📌 Best Practices:</a:t>
            </a:r>
          </a:p>
          <a:p>
            <a:pPr>
              <a:defRPr sz="1800"/>
            </a:pPr>
            <a:r>
              <a:t>  • Split data: Calibration (60-70%) + Validation (30-40%)</a:t>
            </a:r>
          </a:p>
          <a:p>
            <a:pPr>
              <a:defRPr sz="1800"/>
            </a:pPr>
            <a:r>
              <a:t>  • Use independent validation period</a:t>
            </a:r>
          </a:p>
          <a:p>
            <a:pPr>
              <a:defRPr sz="1800"/>
            </a:pPr>
            <a:r>
              <a:t>  • Check parameter physical meaning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Getting Started with HydroLearn / 开始使用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📥 Step 1: Installation</a:t>
            </a:r>
          </a:p>
          <a:p>
            <a:pPr>
              <a:defRPr sz="1800"/>
            </a:pPr>
            <a:r>
              <a:t>  git clone https://github.com/licm13/HydroLearn.git</a:t>
            </a:r>
          </a:p>
          <a:p>
            <a:pPr>
              <a:defRPr sz="1800"/>
            </a:pPr>
            <a:r>
              <a:t>  pip install -r requirements.txt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🔬 Step 2: Run Examples</a:t>
            </a:r>
          </a:p>
          <a:p>
            <a:pPr>
              <a:defRPr sz="1800"/>
            </a:pPr>
            <a:r>
              <a:t>  python examples.py          # Compare all models</a:t>
            </a:r>
          </a:p>
          <a:p>
            <a:pPr>
              <a:defRPr sz="1800"/>
            </a:pPr>
            <a:r>
              <a:t>  python hbv_model.py         # Run HBV model</a:t>
            </a:r>
          </a:p>
          <a:p>
            <a:pPr>
              <a:defRPr sz="1800"/>
            </a:pPr>
            <a:r>
              <a:t>  python xinanjiang_model.py  # Run Xinanjiang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Step 3: Explore Visualizations</a:t>
            </a:r>
          </a:p>
          <a:p>
            <a:pPr>
              <a:defRPr sz="1800"/>
            </a:pPr>
            <a:r>
              <a:t>  Check the figures/ directory for plots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🎓 Step 4: Try Calibration</a:t>
            </a:r>
          </a:p>
          <a:p>
            <a:pPr>
              <a:defRPr sz="1800"/>
            </a:pPr>
            <a:r>
              <a:t>  python calibration_example.py  # Parameter optimization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Repository Structure / 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📁 HydroLearn/</a:t>
            </a:r>
          </a:p>
          <a:p>
            <a:pPr>
              <a:defRPr sz="1800"/>
            </a:pPr>
            <a:r>
              <a:t>  ├── 📄 README.md              # Documentation</a:t>
            </a:r>
          </a:p>
          <a:p>
            <a:pPr>
              <a:defRPr sz="1800"/>
            </a:pPr>
            <a:r>
              <a:t>  ├── 📄 requirements.txt       # Dependencies</a:t>
            </a:r>
          </a:p>
          <a:p>
            <a:pPr>
              <a:defRPr sz="1800"/>
            </a:pPr>
            <a:r>
              <a:t>  ├── 📂 data/                  # Sample datasets</a:t>
            </a:r>
          </a:p>
          <a:p>
            <a:pPr>
              <a:defRPr sz="1800"/>
            </a:pPr>
            <a:r>
              <a:t>  ├── 📂 figures/               # Output visualizations</a:t>
            </a:r>
          </a:p>
          <a:p>
            <a:pPr>
              <a:defRPr sz="1800"/>
            </a:pPr>
            <a:r>
              <a:t>  ├── 📂 docs/                  # Teaching materials</a:t>
            </a:r>
          </a:p>
          <a:p>
            <a:pPr>
              <a:defRPr sz="1800"/>
            </a:pPr>
            <a:r>
              <a:t>  ├── 📜 xinanjiang_model.py    # Xinanjiang implementation</a:t>
            </a:r>
          </a:p>
          <a:p>
            <a:pPr>
              <a:defRPr sz="1800"/>
            </a:pPr>
            <a:r>
              <a:t>  ├── 📜 hbv_model.py           # HBV implementation</a:t>
            </a:r>
          </a:p>
          <a:p>
            <a:pPr>
              <a:defRPr sz="1800"/>
            </a:pPr>
            <a:r>
              <a:t>  ├── 📜 tank_model.py          # Tank model</a:t>
            </a:r>
          </a:p>
          <a:p>
            <a:pPr>
              <a:defRPr sz="1800"/>
            </a:pPr>
            <a:r>
              <a:t>  ├── 📜 gr4j_model.py          # GR4J model</a:t>
            </a:r>
          </a:p>
          <a:p>
            <a:pPr>
              <a:defRPr sz="1800"/>
            </a:pPr>
            <a:r>
              <a:t>  ├── 📜 sacramento_model.py    # Sacramento model</a:t>
            </a:r>
          </a:p>
          <a:p>
            <a:pPr>
              <a:defRPr sz="1800"/>
            </a:pPr>
            <a:r>
              <a:t>  ├── 📜 event_model_scs_uh.py  # SCS-CN + UH</a:t>
            </a:r>
          </a:p>
          <a:p>
            <a:pPr>
              <a:defRPr sz="1800"/>
            </a:pPr>
            <a:r>
              <a:t>  ├── 📜 examples.py            # Model comparison</a:t>
            </a:r>
          </a:p>
          <a:p>
            <a:pPr>
              <a:defRPr sz="1800"/>
            </a:pPr>
            <a:r>
              <a:t>  └── 📜 calibration_example.py # Calibration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Concepts / 关键概念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💧 Water Balance: P = ET + Q + ΔS</a:t>
            </a:r>
          </a:p>
          <a:p>
            <a:pPr>
              <a:defRPr sz="1800"/>
            </a:pPr>
            <a:r>
              <a:t>  • Input = Output + Storage Change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🌊 Runoff Generation Mechanisms:</a:t>
            </a:r>
          </a:p>
          <a:p>
            <a:pPr>
              <a:defRPr sz="1800"/>
            </a:pPr>
            <a:r>
              <a:t>  • Saturation Excess (Xinanjiang): Runoff when soil is saturated</a:t>
            </a:r>
          </a:p>
          <a:p>
            <a:pPr>
              <a:defRPr sz="1800"/>
            </a:pPr>
            <a:r>
              <a:t>  • Infiltration Excess (SCS-CN): Runoff when rainfall &gt; infiltration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📈 Model Complexity Trade-off:</a:t>
            </a:r>
          </a:p>
          <a:p>
            <a:pPr>
              <a:defRPr sz="1800"/>
            </a:pPr>
            <a:r>
              <a:t>  • More parameters ≠ Better performance</a:t>
            </a:r>
          </a:p>
          <a:p>
            <a:pPr>
              <a:defRPr sz="1800"/>
            </a:pPr>
            <a:r>
              <a:t>  • Balance between complexity and data availability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Model Selection:</a:t>
            </a:r>
          </a:p>
          <a:p>
            <a:pPr>
              <a:defRPr sz="1800"/>
            </a:pPr>
            <a:r>
              <a:t>  • Choose based on region, data, and purpose</a:t>
            </a:r>
          </a:p>
          <a:p>
            <a:pPr>
              <a:defRPr sz="1800"/>
            </a:pPr>
            <a:r>
              <a:t>  • No single 'best' model for all situations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Practice Assignments / 练习作业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📝 Assignment 1: Model Exploration</a:t>
            </a:r>
          </a:p>
          <a:p>
            <a:pPr>
              <a:defRPr sz="1800"/>
            </a:pPr>
            <a:r>
              <a:t>  • Run all models with default parameters</a:t>
            </a:r>
          </a:p>
          <a:p>
            <a:pPr>
              <a:defRPr sz="1800"/>
            </a:pPr>
            <a:r>
              <a:t>  • Compare outputs and water balance</a:t>
            </a:r>
          </a:p>
          <a:p>
            <a:pPr>
              <a:defRPr sz="1800"/>
            </a:pPr>
            <a:r>
              <a:t>  • Analyze strengths and weaknesses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Assignment 2: Parameter Sensitivity</a:t>
            </a:r>
          </a:p>
          <a:p>
            <a:pPr>
              <a:defRPr sz="1800"/>
            </a:pPr>
            <a:r>
              <a:t>  • Vary key parameters (±20%)</a:t>
            </a:r>
          </a:p>
          <a:p>
            <a:pPr>
              <a:defRPr sz="1800"/>
            </a:pPr>
            <a:r>
              <a:t>  • Observe impact on simulated discharge</a:t>
            </a:r>
          </a:p>
          <a:p>
            <a:pPr>
              <a:defRPr sz="1800"/>
            </a:pPr>
            <a:r>
              <a:t>  • Identify most sensitive parameters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Assignment 3: Model Calibration</a:t>
            </a:r>
          </a:p>
          <a:p>
            <a:pPr>
              <a:defRPr sz="1800"/>
            </a:pPr>
            <a:r>
              <a:t>  • Calibrate Xinanjiang or HBV model</a:t>
            </a:r>
          </a:p>
          <a:p>
            <a:pPr>
              <a:defRPr sz="1800"/>
            </a:pPr>
            <a:r>
              <a:t>  • Validate on independent period</a:t>
            </a:r>
          </a:p>
          <a:p>
            <a:pPr>
              <a:defRPr sz="1800"/>
            </a:pPr>
            <a:r>
              <a:t>  • Compare NSE, RMSE, and visual fit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📝 Assignment 4: Report and Presentation</a:t>
            </a:r>
          </a:p>
          <a:p>
            <a:pPr>
              <a:defRPr sz="1800"/>
            </a:pPr>
            <a:r>
              <a:t>  • Write technical report on findings</a:t>
            </a:r>
          </a:p>
          <a:p>
            <a:pPr>
              <a:defRPr sz="1800"/>
            </a:pPr>
            <a:r>
              <a:t>  • Present model comparison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Additional Resources / 额外资源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📚 Documentation:</a:t>
            </a:r>
          </a:p>
          <a:p>
            <a:pPr>
              <a:defRPr sz="1800"/>
            </a:pPr>
            <a:r>
              <a:t>  • README.md - Complete usage guide</a:t>
            </a:r>
          </a:p>
          <a:p>
            <a:pPr>
              <a:defRPr sz="1800"/>
            </a:pPr>
            <a:r>
              <a:t>  • Model docstrings - Detailed parameter descriptions</a:t>
            </a:r>
          </a:p>
          <a:p>
            <a:pPr>
              <a:defRPr sz="1800"/>
            </a:pPr>
            <a:r>
              <a:t>  • Jupyter notebooks - Interactive tutorials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🔗 References:</a:t>
            </a:r>
          </a:p>
          <a:p>
            <a:pPr>
              <a:defRPr sz="1800"/>
            </a:pPr>
            <a:r>
              <a:t>  • Zhao (1992) - Xinanjiang model original paper</a:t>
            </a:r>
          </a:p>
          <a:p>
            <a:pPr>
              <a:defRPr sz="1800"/>
            </a:pPr>
            <a:r>
              <a:t>  • Bergström (1992) - HBV model documentation</a:t>
            </a:r>
          </a:p>
          <a:p>
            <a:pPr>
              <a:defRPr sz="1800"/>
            </a:pPr>
            <a:r>
              <a:t>  • Perrin et al. (2003) - GR4J model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💻 GitHub Repository:</a:t>
            </a:r>
          </a:p>
          <a:p>
            <a:pPr>
              <a:defRPr sz="1800"/>
            </a:pPr>
            <a:r>
              <a:t>  • https://github.com/licm13/HydroLearn</a:t>
            </a:r>
          </a:p>
          <a:p>
            <a:pPr>
              <a:defRPr sz="1800"/>
            </a:pPr>
            <a:r>
              <a:t>  • Issues and discussions welcome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Contact:</a:t>
            </a:r>
          </a:p>
          <a:p>
            <a:pPr>
              <a:defRPr sz="1800"/>
            </a:pPr>
            <a:r>
              <a:t>  • Questions? Open an issue on GitHub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 /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We covered:</a:t>
            </a:r>
          </a:p>
          <a:p>
            <a:pPr>
              <a:defRPr sz="1800"/>
            </a:pPr>
            <a:r>
              <a:t>  • Fundamentals of hydrological modeling</a:t>
            </a:r>
          </a:p>
          <a:p>
            <a:pPr>
              <a:defRPr sz="1800"/>
            </a:pPr>
            <a:r>
              <a:t>  • Six different rainfall-runoff models</a:t>
            </a:r>
          </a:p>
          <a:p>
            <a:pPr>
              <a:defRPr sz="1800"/>
            </a:pPr>
            <a:r>
              <a:t>  • Model structures and components</a:t>
            </a:r>
          </a:p>
          <a:p>
            <a:pPr>
              <a:defRPr sz="1800"/>
            </a:pPr>
            <a:r>
              <a:t>  • Calibration and validation techniques</a:t>
            </a:r>
          </a:p>
          <a:p>
            <a:pPr>
              <a:defRPr sz="1800"/>
            </a:pPr>
            <a:r>
              <a:t>  • Practical implementation with Python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Key Takeaways:</a:t>
            </a:r>
          </a:p>
          <a:p>
            <a:pPr>
              <a:defRPr sz="1800"/>
            </a:pPr>
            <a:r>
              <a:t>  • Models are tools - understand their assumptions</a:t>
            </a:r>
          </a:p>
          <a:p>
            <a:pPr>
              <a:defRPr sz="1800"/>
            </a:pPr>
            <a:r>
              <a:t>  • Calibration requires both data and physical insight</a:t>
            </a:r>
          </a:p>
          <a:p>
            <a:pPr>
              <a:defRPr sz="1800"/>
            </a:pPr>
            <a:r>
              <a:t>  • Validation is essential for credible results</a:t>
            </a:r>
          </a:p>
          <a:p>
            <a:pPr>
              <a:defRPr sz="1800"/>
            </a:pPr>
            <a:r>
              <a:t>  • Different models for different purposes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🚀 Next Steps:</a:t>
            </a:r>
          </a:p>
          <a:p>
            <a:pPr>
              <a:defRPr sz="1800"/>
            </a:pPr>
            <a:r>
              <a:t>  • Practice with the repository</a:t>
            </a:r>
          </a:p>
          <a:p>
            <a:pPr>
              <a:defRPr sz="1800"/>
            </a:pPr>
            <a:r>
              <a:t>  • Complete assignments</a:t>
            </a:r>
          </a:p>
          <a:p>
            <a:pPr>
              <a:defRPr sz="1800"/>
            </a:pPr>
            <a:r>
              <a:t>  • Apply to your own catchment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You! / 谢谢!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and Discussions Welcome</a:t>
            </a:r>
          </a:p>
          <a:p>
            <a:r>
              <a:t>欢迎提问和讨论</a:t>
            </a:r>
          </a:p>
          <a:p/>
          <a:p>
            <a:r>
              <a:t>HydroLearn Teaching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